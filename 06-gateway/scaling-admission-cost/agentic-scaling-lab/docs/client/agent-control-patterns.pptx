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throttling systems, because there are two distinct resources to protect.
MODEL SIDE. The escalation sequence is prevent, degrade, shed. Smoothing and jittered retry come first and stop much of the contention that would otherwise raise the level at all. The ladder then buys capacity by making each admitted turn cheaper, and only Level 3 refuses work. Note that admission control is not the Level 3 rung: it is the gate every turn passes through at every level, and the level is one of its three inputs. Per-tenant buckets and the global in-flight cap are enforced at Level 0 too — what changes at Level 3 is the answer, not the existence of the check. The cap itself is derived from the token budget: a 10M tokens-per-minute baseline divided by the tokens a turn consumes per second gives roughly 85 turns in flight, or 14 turns per second. Tune it from load tests, and give priority classes a bypass.
TOOL SIDE. The bulkhead is preventive and structural — a static capacity partition that is always on and does not care whether the dependency is healthy. The circuit breaker is reactive — it observes outcomes and changes behaviour only after failures appear. The timeout is what makes both work; without it, slow calls occupy the semaphore indefinitely and never register as failures.
Two details separate a working implementation from a diagram: the degradation level needs ten to fifteen seconds of hysteresis or it flaps between levels 1 and 3 on every crossing of the cap; and Retry-After must be jittered by the client, or every shed user returns together and is shed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920" y="256032"/>
            <a:ext cx="8869680" cy="438912"/>
          </a:xfrm>
          <a:prstGeom prst="rect">
            <a:avLst/>
          </a:prstGeom>
          <a:noFill/>
          <a:ln/>
        </p:spPr>
        <p:txBody>
          <a:bodyPr wrap="square" lIns="0" tIns="0" rIns="0" bIns="0" rtlCol="0" anchor="ctr"/>
          <a:lstStyle/>
          <a:p>
            <a:pPr indent="0" marL="0">
              <a:buNone/>
            </a:pPr>
            <a:r>
              <a:rPr lang="en-US" sz="2800" b="1" dirty="0">
                <a:solidFill>
                  <a:srgbClr val="0B5B57"/>
                </a:solidFill>
                <a:latin typeface="Calibri" pitchFamily="34" charset="0"/>
                <a:ea typeface="Calibri" pitchFamily="34" charset="-122"/>
                <a:cs typeface="Calibri" pitchFamily="34" charset="-120"/>
              </a:rPr>
              <a:t>Two throttling systems: one for the model, one for the tools</a:t>
            </a:r>
            <a:endParaRPr lang="en-US" sz="2800" dirty="0"/>
          </a:p>
        </p:txBody>
      </p:sp>
      <p:sp>
        <p:nvSpPr>
          <p:cNvPr id="3" name="Text 1"/>
          <p:cNvSpPr txBox="1"/>
          <p:nvPr/>
        </p:nvSpPr>
        <p:spPr>
          <a:xfrm>
            <a:off x="502920" y="731520"/>
            <a:ext cx="10058400" cy="219456"/>
          </a:xfrm>
          <a:prstGeom prst="rect">
            <a:avLst/>
          </a:prstGeom>
          <a:noFill/>
          <a:ln/>
        </p:spPr>
        <p:txBody>
          <a:bodyPr wrap="square" lIns="0" tIns="0" rIns="0" bIns="0" rtlCol="0" anchor="ctr"/>
          <a:lstStyle/>
          <a:p>
            <a:pPr indent="0" marL="0">
              <a:buNone/>
            </a:pPr>
            <a:r>
              <a:rPr lang="en-US" sz="1150" dirty="0">
                <a:solidFill>
                  <a:srgbClr val="68737A"/>
                </a:solidFill>
                <a:latin typeface="Calibri" pitchFamily="34" charset="0"/>
                <a:ea typeface="Calibri" pitchFamily="34" charset="-122"/>
                <a:cs typeface="Calibri" pitchFamily="34" charset="-120"/>
              </a:rPr>
              <a:t>The model side rations a token pool shared with the whole organisation. The tool side protects systems of record that were sized for people.</a:t>
            </a:r>
            <a:endParaRPr lang="en-US" sz="1150" dirty="0"/>
          </a:p>
        </p:txBody>
      </p:sp>
      <p:sp>
        <p:nvSpPr>
          <p:cNvPr id="4" name="Text 2"/>
          <p:cNvSpPr txBox="1"/>
          <p:nvPr/>
        </p:nvSpPr>
        <p:spPr>
          <a:xfrm>
            <a:off x="9509760" y="256032"/>
            <a:ext cx="2176272" cy="438912"/>
          </a:xfrm>
          <a:prstGeom prst="rect">
            <a:avLst/>
          </a:prstGeom>
          <a:noFill/>
          <a:ln/>
        </p:spPr>
        <p:txBody>
          <a:bodyPr wrap="square" lIns="0" tIns="0" rIns="0" bIns="0" rtlCol="0" anchor="ctr"/>
          <a:lstStyle/>
          <a:p>
            <a:pPr algn="r" indent="0" marL="0">
              <a:lnSpc>
                <a:spcPts val="1200"/>
              </a:lnSpc>
              <a:buNone/>
            </a:pPr>
            <a:r>
              <a:rPr lang="en-US" sz="950" dirty="0">
                <a:solidFill>
                  <a:srgbClr val="68737A"/>
                </a:solidFill>
                <a:latin typeface="Calibri" pitchFamily="34" charset="0"/>
                <a:ea typeface="Calibri" pitchFamily="34" charset="-122"/>
                <a:cs typeface="Calibri" pitchFamily="34" charset="-120"/>
              </a:rPr>
              <a:t>Agent scaling patterns</a:t>
            </a:r>
            <a:endParaRPr lang="en-US" sz="950" dirty="0"/>
          </a:p>
          <a:p>
            <a:pPr algn="r" indent="0" marL="0">
              <a:lnSpc>
                <a:spcPts val="1200"/>
              </a:lnSpc>
              <a:buNone/>
            </a:pPr>
            <a:r>
              <a:rPr lang="en-US" sz="950" dirty="0">
                <a:solidFill>
                  <a:srgbClr val="68737A"/>
                </a:solidFill>
                <a:latin typeface="Calibri" pitchFamily="34" charset="0"/>
                <a:ea typeface="Calibri" pitchFamily="34" charset="-122"/>
                <a:cs typeface="Calibri" pitchFamily="34" charset="-120"/>
              </a:rPr>
              <a:t>Google Cloud · Cloud Run · Gemini</a:t>
            </a:r>
            <a:endParaRPr lang="en-US" sz="950" dirty="0"/>
          </a:p>
        </p:txBody>
      </p:sp>
      <p:sp>
        <p:nvSpPr>
          <p:cNvPr id="5" name="Shape 3"/>
          <p:cNvSpPr/>
          <p:nvPr/>
        </p:nvSpPr>
        <p:spPr>
          <a:xfrm>
            <a:off x="502920" y="1060704"/>
            <a:ext cx="5504688" cy="420624"/>
          </a:xfrm>
          <a:prstGeom prst="roundRect">
            <a:avLst>
              <a:gd name="adj" fmla="val 13043"/>
            </a:avLst>
          </a:prstGeom>
          <a:solidFill>
            <a:srgbClr val="DDEFEC"/>
          </a:solidFill>
          <a:ln w="12700">
            <a:solidFill>
              <a:srgbClr val="0B7A75"/>
            </a:solidFill>
            <a:prstDash val="solid"/>
          </a:ln>
        </p:spPr>
      </p:sp>
      <p:sp>
        <p:nvSpPr>
          <p:cNvPr id="6" name="Text 4"/>
          <p:cNvSpPr txBox="1"/>
          <p:nvPr/>
        </p:nvSpPr>
        <p:spPr>
          <a:xfrm>
            <a:off x="649224" y="1060704"/>
            <a:ext cx="1920240" cy="420624"/>
          </a:xfrm>
          <a:prstGeom prst="rect">
            <a:avLst/>
          </a:prstGeom>
          <a:noFill/>
          <a:ln/>
        </p:spPr>
        <p:txBody>
          <a:bodyPr wrap="square" lIns="0" tIns="0" rIns="0" bIns="0" rtlCol="0" anchor="ctr"/>
          <a:lstStyle/>
          <a:p>
            <a:pPr indent="0" marL="0">
              <a:buNone/>
            </a:pPr>
            <a:r>
              <a:rPr lang="en-US" sz="1300" b="1" spc="60" kern="0" dirty="0">
                <a:solidFill>
                  <a:srgbClr val="0B5B57"/>
                </a:solidFill>
                <a:latin typeface="Calibri" pitchFamily="34" charset="0"/>
                <a:ea typeface="Calibri" pitchFamily="34" charset="-122"/>
                <a:cs typeface="Calibri" pitchFamily="34" charset="-120"/>
              </a:rPr>
              <a:t>MODEL THROTTLING</a:t>
            </a:r>
            <a:endParaRPr lang="en-US" sz="1300" dirty="0"/>
          </a:p>
        </p:txBody>
      </p:sp>
      <p:sp>
        <p:nvSpPr>
          <p:cNvPr id="7" name="Text 5"/>
          <p:cNvSpPr txBox="1"/>
          <p:nvPr/>
        </p:nvSpPr>
        <p:spPr>
          <a:xfrm>
            <a:off x="2606040" y="1060704"/>
            <a:ext cx="3255264" cy="420624"/>
          </a:xfrm>
          <a:prstGeom prst="rect">
            <a:avLst/>
          </a:prstGeom>
          <a:noFill/>
          <a:ln/>
        </p:spPr>
        <p:txBody>
          <a:bodyPr wrap="square" lIns="0" tIns="0" rIns="0" bIns="0" rtlCol="0" anchor="ctr"/>
          <a:lstStyle/>
          <a:p>
            <a:pPr indent="0" marL="0">
              <a:lnSpc>
                <a:spcPts val="1100"/>
              </a:lnSpc>
              <a:buNone/>
            </a:pPr>
            <a:r>
              <a:rPr lang="en-US" sz="950" dirty="0">
                <a:solidFill>
                  <a:srgbClr val="1A2328"/>
                </a:solidFill>
                <a:latin typeface="Calibri" pitchFamily="34" charset="0"/>
                <a:ea typeface="Calibri" pitchFamily="34" charset="-122"/>
                <a:cs typeface="Calibri" pitchFamily="34" charset="-120"/>
              </a:rPr>
              <a:t>Protects tokens per minute at a shared pool</a:t>
            </a:r>
            <a:endParaRPr lang="en-US" sz="950" dirty="0"/>
          </a:p>
        </p:txBody>
      </p:sp>
      <p:sp>
        <p:nvSpPr>
          <p:cNvPr id="8" name="Shape 6"/>
          <p:cNvSpPr/>
          <p:nvPr/>
        </p:nvSpPr>
        <p:spPr>
          <a:xfrm>
            <a:off x="6245352" y="1060704"/>
            <a:ext cx="5440680" cy="420624"/>
          </a:xfrm>
          <a:prstGeom prst="roundRect">
            <a:avLst>
              <a:gd name="adj" fmla="val 13043"/>
            </a:avLst>
          </a:prstGeom>
          <a:solidFill>
            <a:srgbClr val="FBEEDC"/>
          </a:solidFill>
          <a:ln w="12700">
            <a:solidFill>
              <a:srgbClr val="A85A12"/>
            </a:solidFill>
            <a:prstDash val="solid"/>
          </a:ln>
        </p:spPr>
      </p:sp>
      <p:sp>
        <p:nvSpPr>
          <p:cNvPr id="9" name="Text 7"/>
          <p:cNvSpPr txBox="1"/>
          <p:nvPr/>
        </p:nvSpPr>
        <p:spPr>
          <a:xfrm>
            <a:off x="6391656" y="1060704"/>
            <a:ext cx="1920240" cy="420624"/>
          </a:xfrm>
          <a:prstGeom prst="rect">
            <a:avLst/>
          </a:prstGeom>
          <a:noFill/>
          <a:ln/>
        </p:spPr>
        <p:txBody>
          <a:bodyPr wrap="square" lIns="0" tIns="0" rIns="0" bIns="0" rtlCol="0" anchor="ctr"/>
          <a:lstStyle/>
          <a:p>
            <a:pPr indent="0" marL="0">
              <a:buNone/>
            </a:pPr>
            <a:r>
              <a:rPr lang="en-US" sz="1300" b="1" spc="60" kern="0" dirty="0">
                <a:solidFill>
                  <a:srgbClr val="8A4A0E"/>
                </a:solidFill>
                <a:latin typeface="Calibri" pitchFamily="34" charset="0"/>
                <a:ea typeface="Calibri" pitchFamily="34" charset="-122"/>
                <a:cs typeface="Calibri" pitchFamily="34" charset="-120"/>
              </a:rPr>
              <a:t>TOOL THROTTLING</a:t>
            </a:r>
            <a:endParaRPr lang="en-US" sz="1300" dirty="0"/>
          </a:p>
        </p:txBody>
      </p:sp>
      <p:sp>
        <p:nvSpPr>
          <p:cNvPr id="10" name="Text 8"/>
          <p:cNvSpPr txBox="1"/>
          <p:nvPr/>
        </p:nvSpPr>
        <p:spPr>
          <a:xfrm>
            <a:off x="8348472" y="1060704"/>
            <a:ext cx="3191256" cy="420624"/>
          </a:xfrm>
          <a:prstGeom prst="rect">
            <a:avLst/>
          </a:prstGeom>
          <a:noFill/>
          <a:ln/>
        </p:spPr>
        <p:txBody>
          <a:bodyPr wrap="square" lIns="0" tIns="0" rIns="0" bIns="0" rtlCol="0" anchor="ctr"/>
          <a:lstStyle/>
          <a:p>
            <a:pPr indent="0" marL="0">
              <a:lnSpc>
                <a:spcPts val="1100"/>
              </a:lnSpc>
              <a:buNone/>
            </a:pPr>
            <a:r>
              <a:rPr lang="en-US" sz="950" dirty="0">
                <a:solidFill>
                  <a:srgbClr val="1A2328"/>
                </a:solidFill>
                <a:latin typeface="Calibri" pitchFamily="34" charset="0"/>
                <a:ea typeface="Calibri" pitchFamily="34" charset="-122"/>
                <a:cs typeface="Calibri" pitchFamily="34" charset="-120"/>
              </a:rPr>
              <a:t>Protects the systems of record behind the tools</a:t>
            </a:r>
            <a:endParaRPr lang="en-US" sz="950" dirty="0"/>
          </a:p>
        </p:txBody>
      </p:sp>
      <p:sp>
        <p:nvSpPr>
          <p:cNvPr id="11" name="Text 9"/>
          <p:cNvSpPr txBox="1"/>
          <p:nvPr/>
        </p:nvSpPr>
        <p:spPr>
          <a:xfrm>
            <a:off x="502920" y="1591056"/>
            <a:ext cx="5504688" cy="146304"/>
          </a:xfrm>
          <a:prstGeom prst="rect">
            <a:avLst/>
          </a:prstGeom>
          <a:noFill/>
          <a:ln/>
        </p:spPr>
        <p:txBody>
          <a:bodyPr wrap="square" lIns="0" tIns="0" rIns="0" bIns="0" rtlCol="0" anchor="ctr"/>
          <a:lstStyle/>
          <a:p>
            <a:pPr indent="0" marL="0">
              <a:buNone/>
            </a:pPr>
            <a:r>
              <a:rPr lang="en-US" sz="800" b="1" spc="110" kern="0" dirty="0">
                <a:solidFill>
                  <a:srgbClr val="68737A"/>
                </a:solidFill>
                <a:latin typeface="Calibri" pitchFamily="34" charset="0"/>
                <a:ea typeface="Calibri" pitchFamily="34" charset="-122"/>
                <a:cs typeface="Calibri" pitchFamily="34" charset="-120"/>
              </a:rPr>
              <a:t>STAGE 1 · PREVENT — keep demand smooth so the ladder never has to move</a:t>
            </a:r>
            <a:endParaRPr lang="en-US" sz="800" dirty="0"/>
          </a:p>
        </p:txBody>
      </p:sp>
      <p:sp>
        <p:nvSpPr>
          <p:cNvPr id="12" name="Shape 10"/>
          <p:cNvSpPr/>
          <p:nvPr/>
        </p:nvSpPr>
        <p:spPr>
          <a:xfrm>
            <a:off x="502920" y="1773936"/>
            <a:ext cx="5504688" cy="658368"/>
          </a:xfrm>
          <a:prstGeom prst="roundRect">
            <a:avLst>
              <a:gd name="adj" fmla="val 6944"/>
            </a:avLst>
          </a:prstGeom>
          <a:solidFill>
            <a:srgbClr val="F4F7F6"/>
          </a:solidFill>
          <a:ln w="12700">
            <a:solidFill>
              <a:srgbClr val="D2DAD7"/>
            </a:solidFill>
            <a:prstDash val="solid"/>
          </a:ln>
          <a:effectLst>
            <a:outerShdw sx="100000" sy="100000" kx="0" ky="0" algn="bl" rotWithShape="0" blurRad="76200" dist="19050" dir="5400000">
              <a:srgbClr val="8A9994">
                <a:alpha val="20000"/>
              </a:srgbClr>
            </a:outerShdw>
          </a:effectLst>
        </p:spPr>
      </p:sp>
      <p:sp>
        <p:nvSpPr>
          <p:cNvPr id="13" name="Text 11"/>
          <p:cNvSpPr txBox="1"/>
          <p:nvPr/>
        </p:nvSpPr>
        <p:spPr>
          <a:xfrm>
            <a:off x="658368" y="1856232"/>
            <a:ext cx="5193792" cy="201168"/>
          </a:xfrm>
          <a:prstGeom prst="rect">
            <a:avLst/>
          </a:prstGeom>
          <a:noFill/>
          <a:ln/>
        </p:spPr>
        <p:txBody>
          <a:bodyPr wrap="square" lIns="0" tIns="0" rIns="0" bIns="0" rtlCol="0" anchor="ctr"/>
          <a:lstStyle/>
          <a:p>
            <a:pPr indent="0" marL="0">
              <a:buNone/>
            </a:pPr>
            <a:r>
              <a:rPr lang="en-US" sz="1150" b="1" dirty="0">
                <a:solidFill>
                  <a:srgbClr val="0B5B57"/>
                </a:solidFill>
                <a:latin typeface="Calibri" pitchFamily="34" charset="0"/>
                <a:ea typeface="Calibri" pitchFamily="34" charset="-122"/>
                <a:cs typeface="Calibri" pitchFamily="34" charset="-120"/>
              </a:rPr>
              <a:t>Smoothing, jittered retry and sibling fallback</a:t>
            </a:r>
            <a:endParaRPr lang="en-US" sz="1150" dirty="0"/>
          </a:p>
        </p:txBody>
      </p:sp>
      <p:sp>
        <p:nvSpPr>
          <p:cNvPr id="14" name="Text 12"/>
          <p:cNvSpPr txBox="1"/>
          <p:nvPr/>
        </p:nvSpPr>
        <p:spPr>
          <a:xfrm>
            <a:off x="658368" y="2075688"/>
            <a:ext cx="5193792" cy="310896"/>
          </a:xfrm>
          <a:prstGeom prst="rect">
            <a:avLst/>
          </a:prstGeom>
          <a:noFill/>
          <a:ln/>
        </p:spPr>
        <p:txBody>
          <a:bodyPr wrap="square" lIns="0" tIns="0" rIns="0" bIns="0" rtlCol="0" anchor="t"/>
          <a:lstStyle/>
          <a:p>
            <a:pPr indent="0" marL="0">
              <a:lnSpc>
                <a:spcPts val="1100"/>
              </a:lnSpc>
              <a:buNone/>
            </a:pPr>
            <a:r>
              <a:rPr lang="en-US" sz="900" dirty="0">
                <a:solidFill>
                  <a:srgbClr val="1A2328"/>
                </a:solidFill>
                <a:latin typeface="Calibri" pitchFamily="34" charset="0"/>
                <a:ea typeface="Calibri" pitchFamily="34" charset="-122"/>
                <a:cs typeface="Calibri" pitchFamily="34" charset="-120"/>
              </a:rPr>
              <a:t>A token bucket per model spreads calls evenly inside the minute. Retries use full jitter and honour Retry-After. A model family whose breaker opens falls back to a sibling with its own pool.</a:t>
            </a:r>
            <a:endParaRPr lang="en-US" sz="900" dirty="0"/>
          </a:p>
        </p:txBody>
      </p:sp>
      <p:sp>
        <p:nvSpPr>
          <p:cNvPr id="15" name="Shape 13"/>
          <p:cNvSpPr/>
          <p:nvPr/>
        </p:nvSpPr>
        <p:spPr>
          <a:xfrm>
            <a:off x="3255264" y="2468880"/>
            <a:ext cx="0" cy="128016"/>
          </a:xfrm>
          <a:prstGeom prst="line">
            <a:avLst/>
          </a:prstGeom>
          <a:noFill/>
          <a:ln w="15875">
            <a:solidFill>
              <a:srgbClr val="9AA6A2"/>
            </a:solidFill>
            <a:prstDash val="solid"/>
            <a:tailEnd type="triangle"/>
          </a:ln>
        </p:spPr>
      </p:sp>
      <p:sp>
        <p:nvSpPr>
          <p:cNvPr id="16" name="Text 14"/>
          <p:cNvSpPr txBox="1"/>
          <p:nvPr/>
        </p:nvSpPr>
        <p:spPr>
          <a:xfrm>
            <a:off x="502920" y="2633472"/>
            <a:ext cx="5504688" cy="146304"/>
          </a:xfrm>
          <a:prstGeom prst="rect">
            <a:avLst/>
          </a:prstGeom>
          <a:noFill/>
          <a:ln/>
        </p:spPr>
        <p:txBody>
          <a:bodyPr wrap="square" lIns="0" tIns="0" rIns="0" bIns="0" rtlCol="0" anchor="ctr"/>
          <a:lstStyle/>
          <a:p>
            <a:pPr indent="0" marL="0">
              <a:buNone/>
            </a:pPr>
            <a:r>
              <a:rPr lang="en-US" sz="800" b="1" spc="110" kern="0" dirty="0">
                <a:solidFill>
                  <a:srgbClr val="68737A"/>
                </a:solidFill>
                <a:latin typeface="Calibri" pitchFamily="34" charset="0"/>
                <a:ea typeface="Calibri" pitchFamily="34" charset="-122"/>
                <a:cs typeface="Calibri" pitchFamily="34" charset="-120"/>
              </a:rPr>
              <a:t>STAGE 2 · DEGRADE — the ladder, each raised level held 10–15 s so it cannot flap</a:t>
            </a:r>
            <a:endParaRPr lang="en-US" sz="800" dirty="0"/>
          </a:p>
        </p:txBody>
      </p:sp>
      <p:sp>
        <p:nvSpPr>
          <p:cNvPr id="17" name="Shape 15"/>
          <p:cNvSpPr/>
          <p:nvPr/>
        </p:nvSpPr>
        <p:spPr>
          <a:xfrm>
            <a:off x="502920" y="2834640"/>
            <a:ext cx="5504688" cy="493776"/>
          </a:xfrm>
          <a:prstGeom prst="roundRect">
            <a:avLst>
              <a:gd name="adj" fmla="val 9259"/>
            </a:avLst>
          </a:prstGeom>
          <a:solidFill>
            <a:srgbClr val="E7F2E8"/>
          </a:solidFill>
          <a:ln w="12700">
            <a:solidFill>
              <a:srgbClr val="2E7D32"/>
            </a:solidFill>
            <a:prstDash val="solid"/>
          </a:ln>
        </p:spPr>
      </p:sp>
      <p:sp>
        <p:nvSpPr>
          <p:cNvPr id="18" name="Text 16"/>
          <p:cNvSpPr txBox="1"/>
          <p:nvPr/>
        </p:nvSpPr>
        <p:spPr>
          <a:xfrm>
            <a:off x="630936" y="2834640"/>
            <a:ext cx="1298448" cy="493776"/>
          </a:xfrm>
          <a:prstGeom prst="rect">
            <a:avLst/>
          </a:prstGeom>
          <a:noFill/>
          <a:ln/>
        </p:spPr>
        <p:txBody>
          <a:bodyPr wrap="square" lIns="0" tIns="0" rIns="0" bIns="0" rtlCol="0" anchor="ctr"/>
          <a:lstStyle/>
          <a:p>
            <a:pPr indent="0" marL="0">
              <a:buNone/>
            </a:pPr>
            <a:r>
              <a:rPr lang="en-US" sz="1050" b="1" dirty="0">
                <a:solidFill>
                  <a:srgbClr val="2E7D32"/>
                </a:solidFill>
                <a:latin typeface="Calibri" pitchFamily="34" charset="0"/>
                <a:ea typeface="Calibri" pitchFamily="34" charset="-122"/>
                <a:cs typeface="Calibri" pitchFamily="34" charset="-120"/>
              </a:rPr>
              <a:t>Level 0 · Normal</a:t>
            </a:r>
            <a:endParaRPr lang="en-US" sz="1050" dirty="0"/>
          </a:p>
        </p:txBody>
      </p:sp>
      <p:sp>
        <p:nvSpPr>
          <p:cNvPr id="19" name="Text 17"/>
          <p:cNvSpPr txBox="1"/>
          <p:nvPr/>
        </p:nvSpPr>
        <p:spPr>
          <a:xfrm>
            <a:off x="2002536" y="2889504"/>
            <a:ext cx="3858768" cy="384048"/>
          </a:xfrm>
          <a:prstGeom prst="rect">
            <a:avLst/>
          </a:prstGeom>
          <a:noFill/>
          <a:ln/>
        </p:spPr>
        <p:txBody>
          <a:bodyPr wrap="square" lIns="0" tIns="0" rIns="0" bIns="0" rtlCol="0" anchor="ctr"/>
          <a:lstStyle/>
          <a:p>
            <a:pPr indent="0" marL="0">
              <a:lnSpc>
                <a:spcPts val="1100"/>
              </a:lnSpc>
              <a:buNone/>
            </a:pPr>
            <a:r>
              <a:rPr lang="en-US" sz="900" dirty="0">
                <a:solidFill>
                  <a:srgbClr val="1A2328"/>
                </a:solidFill>
                <a:latin typeface="Calibri" pitchFamily="34" charset="0"/>
                <a:ea typeface="Calibri" pitchFamily="34" charset="-122"/>
                <a:cs typeface="Calibri" pitchFamily="34" charset="-120"/>
              </a:rPr>
              <a:t>Full model, full tool set, full thinking budget</a:t>
            </a:r>
            <a:endParaRPr lang="en-US" sz="900" dirty="0"/>
          </a:p>
        </p:txBody>
      </p:sp>
      <p:sp>
        <p:nvSpPr>
          <p:cNvPr id="20" name="Shape 18"/>
          <p:cNvSpPr/>
          <p:nvPr/>
        </p:nvSpPr>
        <p:spPr>
          <a:xfrm>
            <a:off x="1161288" y="3332988"/>
            <a:ext cx="0" cy="45720"/>
          </a:xfrm>
          <a:prstGeom prst="line">
            <a:avLst/>
          </a:prstGeom>
          <a:noFill/>
          <a:ln w="12700">
            <a:solidFill>
              <a:srgbClr val="9AA6A2"/>
            </a:solidFill>
            <a:prstDash val="solid"/>
          </a:ln>
        </p:spPr>
      </p:sp>
      <p:sp>
        <p:nvSpPr>
          <p:cNvPr id="21" name="Shape 19"/>
          <p:cNvSpPr/>
          <p:nvPr/>
        </p:nvSpPr>
        <p:spPr>
          <a:xfrm>
            <a:off x="502920" y="3383280"/>
            <a:ext cx="5504688" cy="493776"/>
          </a:xfrm>
          <a:prstGeom prst="roundRect">
            <a:avLst>
              <a:gd name="adj" fmla="val 9259"/>
            </a:avLst>
          </a:prstGeom>
          <a:solidFill>
            <a:srgbClr val="DDEFEC"/>
          </a:solidFill>
          <a:ln w="12700">
            <a:solidFill>
              <a:srgbClr val="0B7A75"/>
            </a:solidFill>
            <a:prstDash val="solid"/>
          </a:ln>
        </p:spPr>
      </p:sp>
      <p:sp>
        <p:nvSpPr>
          <p:cNvPr id="22" name="Text 20"/>
          <p:cNvSpPr txBox="1"/>
          <p:nvPr/>
        </p:nvSpPr>
        <p:spPr>
          <a:xfrm>
            <a:off x="630936" y="3383280"/>
            <a:ext cx="1298448" cy="493776"/>
          </a:xfrm>
          <a:prstGeom prst="rect">
            <a:avLst/>
          </a:prstGeom>
          <a:noFill/>
          <a:ln/>
        </p:spPr>
        <p:txBody>
          <a:bodyPr wrap="square" lIns="0" tIns="0" rIns="0" bIns="0" rtlCol="0" anchor="ctr"/>
          <a:lstStyle/>
          <a:p>
            <a:pPr indent="0" marL="0">
              <a:buNone/>
            </a:pPr>
            <a:r>
              <a:rPr lang="en-US" sz="1050" b="1" dirty="0">
                <a:solidFill>
                  <a:srgbClr val="0B5B57"/>
                </a:solidFill>
                <a:latin typeface="Calibri" pitchFamily="34" charset="0"/>
                <a:ea typeface="Calibri" pitchFamily="34" charset="-122"/>
                <a:cs typeface="Calibri" pitchFamily="34" charset="-120"/>
              </a:rPr>
              <a:t>Level 1 · Trim</a:t>
            </a:r>
            <a:endParaRPr lang="en-US" sz="1050" dirty="0"/>
          </a:p>
        </p:txBody>
      </p:sp>
      <p:sp>
        <p:nvSpPr>
          <p:cNvPr id="23" name="Text 21"/>
          <p:cNvSpPr txBox="1"/>
          <p:nvPr/>
        </p:nvSpPr>
        <p:spPr>
          <a:xfrm>
            <a:off x="2002536" y="3438144"/>
            <a:ext cx="3858768" cy="384048"/>
          </a:xfrm>
          <a:prstGeom prst="rect">
            <a:avLst/>
          </a:prstGeom>
          <a:noFill/>
          <a:ln/>
        </p:spPr>
        <p:txBody>
          <a:bodyPr wrap="square" lIns="0" tIns="0" rIns="0" bIns="0" rtlCol="0" anchor="ctr"/>
          <a:lstStyle/>
          <a:p>
            <a:pPr indent="0" marL="0">
              <a:lnSpc>
                <a:spcPts val="1100"/>
              </a:lnSpc>
              <a:buNone/>
            </a:pPr>
            <a:r>
              <a:rPr lang="en-US" sz="900" dirty="0">
                <a:solidFill>
                  <a:srgbClr val="1A2328"/>
                </a:solidFill>
                <a:latin typeface="Calibri" pitchFamily="34" charset="0"/>
                <a:ea typeface="Calibri" pitchFamily="34" charset="-122"/>
                <a:cs typeface="Calibri" pitchFamily="34" charset="-120"/>
              </a:rPr>
              <a:t>Lite model, shorter output cap, optional tools withheld — about a quarter of the cost, turns roughly twice as fast</a:t>
            </a:r>
            <a:endParaRPr lang="en-US" sz="900" dirty="0"/>
          </a:p>
        </p:txBody>
      </p:sp>
      <p:sp>
        <p:nvSpPr>
          <p:cNvPr id="24" name="Shape 22"/>
          <p:cNvSpPr/>
          <p:nvPr/>
        </p:nvSpPr>
        <p:spPr>
          <a:xfrm>
            <a:off x="1161288" y="3881628"/>
            <a:ext cx="0" cy="45720"/>
          </a:xfrm>
          <a:prstGeom prst="line">
            <a:avLst/>
          </a:prstGeom>
          <a:noFill/>
          <a:ln w="12700">
            <a:solidFill>
              <a:srgbClr val="9AA6A2"/>
            </a:solidFill>
            <a:prstDash val="solid"/>
          </a:ln>
        </p:spPr>
      </p:sp>
      <p:sp>
        <p:nvSpPr>
          <p:cNvPr id="25" name="Shape 23"/>
          <p:cNvSpPr/>
          <p:nvPr/>
        </p:nvSpPr>
        <p:spPr>
          <a:xfrm>
            <a:off x="502920" y="3931920"/>
            <a:ext cx="5504688" cy="493776"/>
          </a:xfrm>
          <a:prstGeom prst="roundRect">
            <a:avLst>
              <a:gd name="adj" fmla="val 9259"/>
            </a:avLst>
          </a:prstGeom>
          <a:solidFill>
            <a:srgbClr val="FBEEDC"/>
          </a:solidFill>
          <a:ln w="12700">
            <a:solidFill>
              <a:srgbClr val="A85A12"/>
            </a:solidFill>
            <a:prstDash val="solid"/>
          </a:ln>
        </p:spPr>
      </p:sp>
      <p:sp>
        <p:nvSpPr>
          <p:cNvPr id="26" name="Text 24"/>
          <p:cNvSpPr txBox="1"/>
          <p:nvPr/>
        </p:nvSpPr>
        <p:spPr>
          <a:xfrm>
            <a:off x="630936" y="3931920"/>
            <a:ext cx="1298448" cy="493776"/>
          </a:xfrm>
          <a:prstGeom prst="rect">
            <a:avLst/>
          </a:prstGeom>
          <a:noFill/>
          <a:ln/>
        </p:spPr>
        <p:txBody>
          <a:bodyPr wrap="square" lIns="0" tIns="0" rIns="0" bIns="0" rtlCol="0" anchor="ctr"/>
          <a:lstStyle/>
          <a:p>
            <a:pPr indent="0" marL="0">
              <a:buNone/>
            </a:pPr>
            <a:r>
              <a:rPr lang="en-US" sz="1050" b="1" dirty="0">
                <a:solidFill>
                  <a:srgbClr val="8A4A0E"/>
                </a:solidFill>
                <a:latin typeface="Calibri" pitchFamily="34" charset="0"/>
                <a:ea typeface="Calibri" pitchFamily="34" charset="-122"/>
                <a:cs typeface="Calibri" pitchFamily="34" charset="-120"/>
              </a:rPr>
              <a:t>Level 2 · Protect</a:t>
            </a:r>
            <a:endParaRPr lang="en-US" sz="1050" dirty="0"/>
          </a:p>
        </p:txBody>
      </p:sp>
      <p:sp>
        <p:nvSpPr>
          <p:cNvPr id="27" name="Text 25"/>
          <p:cNvSpPr txBox="1"/>
          <p:nvPr/>
        </p:nvSpPr>
        <p:spPr>
          <a:xfrm>
            <a:off x="2002536" y="3986784"/>
            <a:ext cx="3858768" cy="384048"/>
          </a:xfrm>
          <a:prstGeom prst="rect">
            <a:avLst/>
          </a:prstGeom>
          <a:noFill/>
          <a:ln/>
        </p:spPr>
        <p:txBody>
          <a:bodyPr wrap="square" lIns="0" tIns="0" rIns="0" bIns="0" rtlCol="0" anchor="ctr"/>
          <a:lstStyle/>
          <a:p>
            <a:pPr indent="0" marL="0">
              <a:lnSpc>
                <a:spcPts val="1100"/>
              </a:lnSpc>
              <a:buNone/>
            </a:pPr>
            <a:r>
              <a:rPr lang="en-US" sz="900" dirty="0">
                <a:solidFill>
                  <a:srgbClr val="1A2328"/>
                </a:solidFill>
                <a:latin typeface="Calibri" pitchFamily="34" charset="0"/>
                <a:ea typeface="Calibri" pitchFamily="34" charset="-122"/>
                <a:cs typeface="Calibri" pitchFamily="34" charset="-120"/>
              </a:rPr>
              <a:t>Minimal thinking, no writes, no slow tools, a prepared bulletin where one applies — about a fifth of the cost</a:t>
            </a:r>
            <a:endParaRPr lang="en-US" sz="900" dirty="0"/>
          </a:p>
        </p:txBody>
      </p:sp>
      <p:sp>
        <p:nvSpPr>
          <p:cNvPr id="28" name="Shape 26"/>
          <p:cNvSpPr/>
          <p:nvPr/>
        </p:nvSpPr>
        <p:spPr>
          <a:xfrm>
            <a:off x="1161288" y="4430268"/>
            <a:ext cx="0" cy="45720"/>
          </a:xfrm>
          <a:prstGeom prst="line">
            <a:avLst/>
          </a:prstGeom>
          <a:noFill/>
          <a:ln w="12700">
            <a:solidFill>
              <a:srgbClr val="9AA6A2"/>
            </a:solidFill>
            <a:prstDash val="solid"/>
          </a:ln>
        </p:spPr>
      </p:sp>
      <p:sp>
        <p:nvSpPr>
          <p:cNvPr id="29" name="Shape 27"/>
          <p:cNvSpPr/>
          <p:nvPr/>
        </p:nvSpPr>
        <p:spPr>
          <a:xfrm>
            <a:off x="502920" y="4480560"/>
            <a:ext cx="5504688" cy="493776"/>
          </a:xfrm>
          <a:prstGeom prst="roundRect">
            <a:avLst>
              <a:gd name="adj" fmla="val 9259"/>
            </a:avLst>
          </a:prstGeom>
          <a:solidFill>
            <a:srgbClr val="F9E4E2"/>
          </a:solidFill>
          <a:ln w="12700">
            <a:solidFill>
              <a:srgbClr val="B3261E"/>
            </a:solidFill>
            <a:prstDash val="solid"/>
          </a:ln>
        </p:spPr>
      </p:sp>
      <p:sp>
        <p:nvSpPr>
          <p:cNvPr id="30" name="Text 28"/>
          <p:cNvSpPr txBox="1"/>
          <p:nvPr/>
        </p:nvSpPr>
        <p:spPr>
          <a:xfrm>
            <a:off x="630936" y="4480560"/>
            <a:ext cx="1298448" cy="493776"/>
          </a:xfrm>
          <a:prstGeom prst="rect">
            <a:avLst/>
          </a:prstGeom>
          <a:noFill/>
          <a:ln/>
        </p:spPr>
        <p:txBody>
          <a:bodyPr wrap="square" lIns="0" tIns="0" rIns="0" bIns="0" rtlCol="0" anchor="ctr"/>
          <a:lstStyle/>
          <a:p>
            <a:pPr indent="0" marL="0">
              <a:buNone/>
            </a:pPr>
            <a:r>
              <a:rPr lang="en-US" sz="1050" b="1" dirty="0">
                <a:solidFill>
                  <a:srgbClr val="B3261E"/>
                </a:solidFill>
                <a:latin typeface="Calibri" pitchFamily="34" charset="0"/>
                <a:ea typeface="Calibri" pitchFamily="34" charset="-122"/>
                <a:cs typeface="Calibri" pitchFamily="34" charset="-120"/>
              </a:rPr>
              <a:t>Level 3 · Shed</a:t>
            </a:r>
            <a:endParaRPr lang="en-US" sz="1050" dirty="0"/>
          </a:p>
        </p:txBody>
      </p:sp>
      <p:sp>
        <p:nvSpPr>
          <p:cNvPr id="31" name="Text 29"/>
          <p:cNvSpPr txBox="1"/>
          <p:nvPr/>
        </p:nvSpPr>
        <p:spPr>
          <a:xfrm>
            <a:off x="2002536" y="4535424"/>
            <a:ext cx="3858768" cy="384048"/>
          </a:xfrm>
          <a:prstGeom prst="rect">
            <a:avLst/>
          </a:prstGeom>
          <a:noFill/>
          <a:ln/>
        </p:spPr>
        <p:txBody>
          <a:bodyPr wrap="square" lIns="0" tIns="0" rIns="0" bIns="0" rtlCol="0" anchor="ctr"/>
          <a:lstStyle/>
          <a:p>
            <a:pPr indent="0" marL="0">
              <a:lnSpc>
                <a:spcPts val="1100"/>
              </a:lnSpc>
              <a:buNone/>
            </a:pPr>
            <a:r>
              <a:rPr lang="en-US" sz="900" dirty="0">
                <a:solidFill>
                  <a:srgbClr val="1A2328"/>
                </a:solidFill>
                <a:latin typeface="Calibri" pitchFamily="34" charset="0"/>
                <a:ea typeface="Calibri" pitchFamily="34" charset="-122"/>
                <a:cs typeface="Calibri" pitchFamily="34" charset="-120"/>
              </a:rPr>
              <a:t>Everything below priority 2 gets a 503 and a Retry-After that grows with the level</a:t>
            </a:r>
            <a:endParaRPr lang="en-US" sz="900" dirty="0"/>
          </a:p>
        </p:txBody>
      </p:sp>
      <p:sp>
        <p:nvSpPr>
          <p:cNvPr id="32" name="Shape 30"/>
          <p:cNvSpPr/>
          <p:nvPr/>
        </p:nvSpPr>
        <p:spPr>
          <a:xfrm>
            <a:off x="3255264" y="5047488"/>
            <a:ext cx="0" cy="109728"/>
          </a:xfrm>
          <a:prstGeom prst="line">
            <a:avLst/>
          </a:prstGeom>
          <a:noFill/>
          <a:ln w="15875">
            <a:solidFill>
              <a:srgbClr val="0B7A75"/>
            </a:solidFill>
            <a:prstDash val="solid"/>
            <a:headEnd type="triangle"/>
            <a:tailEnd type="none"/>
          </a:ln>
        </p:spPr>
      </p:sp>
      <p:sp>
        <p:nvSpPr>
          <p:cNvPr id="33" name="Shape 31"/>
          <p:cNvSpPr/>
          <p:nvPr/>
        </p:nvSpPr>
        <p:spPr>
          <a:xfrm>
            <a:off x="502920" y="5175504"/>
            <a:ext cx="5504688" cy="713232"/>
          </a:xfrm>
          <a:prstGeom prst="roundRect">
            <a:avLst>
              <a:gd name="adj" fmla="val 6410"/>
            </a:avLst>
          </a:prstGeom>
          <a:solidFill>
            <a:srgbClr val="FFFFFF"/>
          </a:solidFill>
          <a:ln w="19050">
            <a:solidFill>
              <a:srgbClr val="0B5B57"/>
            </a:solidFill>
            <a:prstDash val="solid"/>
          </a:ln>
          <a:effectLst>
            <a:outerShdw sx="100000" sy="100000" kx="0" ky="0" algn="bl" rotWithShape="0" blurRad="76200" dist="19050" dir="5400000">
              <a:srgbClr val="8A9994">
                <a:alpha val="20000"/>
              </a:srgbClr>
            </a:outerShdw>
          </a:effectLst>
        </p:spPr>
      </p:sp>
      <p:sp>
        <p:nvSpPr>
          <p:cNvPr id="34" name="Text 32"/>
          <p:cNvSpPr txBox="1"/>
          <p:nvPr/>
        </p:nvSpPr>
        <p:spPr>
          <a:xfrm>
            <a:off x="658368" y="5239512"/>
            <a:ext cx="5193792" cy="201168"/>
          </a:xfrm>
          <a:prstGeom prst="rect">
            <a:avLst/>
          </a:prstGeom>
          <a:noFill/>
          <a:ln/>
        </p:spPr>
        <p:txBody>
          <a:bodyPr wrap="square" lIns="0" tIns="0" rIns="0" bIns="0" rtlCol="0" anchor="ctr"/>
          <a:lstStyle/>
          <a:p>
            <a:pPr indent="0" marL="0">
              <a:buNone/>
            </a:pPr>
            <a:r>
              <a:rPr lang="en-US" sz="1150" b="1" dirty="0">
                <a:solidFill>
                  <a:srgbClr val="0B5B57"/>
                </a:solidFill>
                <a:latin typeface="Calibri" pitchFamily="34" charset="0"/>
                <a:ea typeface="Calibri" pitchFamily="34" charset="-122"/>
                <a:cs typeface="Calibri" pitchFamily="34" charset="-120"/>
              </a:rPr>
              <a:t>Admission control — the gate that enforces every rung</a:t>
            </a:r>
            <a:endParaRPr lang="en-US" sz="1150" dirty="0"/>
          </a:p>
        </p:txBody>
      </p:sp>
      <p:sp>
        <p:nvSpPr>
          <p:cNvPr id="35" name="Text 33"/>
          <p:cNvSpPr txBox="1"/>
          <p:nvPr/>
        </p:nvSpPr>
        <p:spPr>
          <a:xfrm>
            <a:off x="658368" y="5449824"/>
            <a:ext cx="5193792" cy="384048"/>
          </a:xfrm>
          <a:prstGeom prst="rect">
            <a:avLst/>
          </a:prstGeom>
          <a:noFill/>
          <a:ln/>
        </p:spPr>
        <p:txBody>
          <a:bodyPr wrap="square" lIns="0" tIns="0" rIns="0" bIns="0" rtlCol="0" anchor="t"/>
          <a:lstStyle/>
          <a:p>
            <a:pPr indent="0" marL="0">
              <a:lnSpc>
                <a:spcPts val="1100"/>
              </a:lnSpc>
              <a:buNone/>
            </a:pPr>
            <a:r>
              <a:rPr lang="en-US" sz="900" dirty="0">
                <a:solidFill>
                  <a:srgbClr val="1A2328"/>
                </a:solidFill>
                <a:latin typeface="Calibri" pitchFamily="34" charset="0"/>
                <a:ea typeface="Calibri" pitchFamily="34" charset="-122"/>
                <a:cs typeface="Calibri" pitchFamily="34" charset="-120"/>
              </a:rPr>
              <a:t>At the gateway, before a turn has cost anything: is this tenant inside its bucket, what is the level, and would this turn exceed the in-flight cap — about 85 turns on a 10M TPM baseline? </a:t>
            </a:r>
            <a:pPr indent="0" marL="0">
              <a:lnSpc>
                <a:spcPts val="1100"/>
              </a:lnSpc>
              <a:buNone/>
            </a:pPr>
            <a:r>
              <a:rPr lang="en-US" sz="900" b="1" dirty="0">
                <a:solidFill>
                  <a:srgbClr val="1A2328"/>
                </a:solidFill>
                <a:latin typeface="Calibri" pitchFamily="34" charset="0"/>
                <a:ea typeface="Calibri" pitchFamily="34" charset="-122"/>
                <a:cs typeface="Calibri" pitchFamily="34" charset="-120"/>
              </a:rPr>
              <a:t>The buckets and the cap apply at every level; only the answer changes at Level 3.</a:t>
            </a:r>
            <a:endParaRPr lang="en-US" sz="900" dirty="0"/>
          </a:p>
        </p:txBody>
      </p:sp>
      <p:sp>
        <p:nvSpPr>
          <p:cNvPr id="36" name="Text 34"/>
          <p:cNvSpPr txBox="1"/>
          <p:nvPr/>
        </p:nvSpPr>
        <p:spPr>
          <a:xfrm>
            <a:off x="6245352" y="1591056"/>
            <a:ext cx="5440680" cy="146304"/>
          </a:xfrm>
          <a:prstGeom prst="rect">
            <a:avLst/>
          </a:prstGeom>
          <a:noFill/>
          <a:ln/>
        </p:spPr>
        <p:txBody>
          <a:bodyPr wrap="square" lIns="0" tIns="0" rIns="0" bIns="0" rtlCol="0" anchor="ctr"/>
          <a:lstStyle/>
          <a:p>
            <a:pPr indent="0" marL="0">
              <a:buNone/>
            </a:pPr>
            <a:r>
              <a:rPr lang="en-US" sz="800" b="1" spc="110" kern="0" dirty="0">
                <a:solidFill>
                  <a:srgbClr val="68737A"/>
                </a:solidFill>
                <a:latin typeface="Calibri" pitchFamily="34" charset="0"/>
                <a:ea typeface="Calibri" pitchFamily="34" charset="-122"/>
                <a:cs typeface="Calibri" pitchFamily="34" charset="-120"/>
              </a:rPr>
              <a:t>PREVENTIVE — always on, indifferent to health</a:t>
            </a:r>
            <a:endParaRPr lang="en-US" sz="800" dirty="0"/>
          </a:p>
        </p:txBody>
      </p:sp>
      <p:sp>
        <p:nvSpPr>
          <p:cNvPr id="37" name="Shape 35"/>
          <p:cNvSpPr/>
          <p:nvPr/>
        </p:nvSpPr>
        <p:spPr>
          <a:xfrm>
            <a:off x="6245352" y="1773936"/>
            <a:ext cx="5440680" cy="1024128"/>
          </a:xfrm>
          <a:prstGeom prst="roundRect">
            <a:avLst>
              <a:gd name="adj" fmla="val 4464"/>
            </a:avLst>
          </a:prstGeom>
          <a:solidFill>
            <a:srgbClr val="F4F7F6"/>
          </a:solidFill>
          <a:ln w="12700">
            <a:solidFill>
              <a:srgbClr val="D2DAD7"/>
            </a:solidFill>
            <a:prstDash val="solid"/>
          </a:ln>
          <a:effectLst>
            <a:outerShdw sx="100000" sy="100000" kx="0" ky="0" algn="bl" rotWithShape="0" blurRad="76200" dist="19050" dir="5400000">
              <a:srgbClr val="8A9994">
                <a:alpha val="20000"/>
              </a:srgbClr>
            </a:outerShdw>
          </a:effectLst>
        </p:spPr>
      </p:sp>
      <p:sp>
        <p:nvSpPr>
          <p:cNvPr id="38" name="Shape 36"/>
          <p:cNvSpPr/>
          <p:nvPr/>
        </p:nvSpPr>
        <p:spPr>
          <a:xfrm>
            <a:off x="6391656" y="1874520"/>
            <a:ext cx="274320" cy="274320"/>
          </a:xfrm>
          <a:prstGeom prst="ellipse">
            <a:avLst/>
          </a:prstGeom>
          <a:solidFill>
            <a:srgbClr val="8A4A0E"/>
          </a:solidFill>
          <a:ln w="12700">
            <a:solidFill>
              <a:srgbClr val="8A4A0E"/>
            </a:solidFill>
            <a:prstDash val="solid"/>
          </a:ln>
        </p:spPr>
      </p:sp>
      <p:sp>
        <p:nvSpPr>
          <p:cNvPr id="39" name="Text 37"/>
          <p:cNvSpPr txBox="1"/>
          <p:nvPr/>
        </p:nvSpPr>
        <p:spPr>
          <a:xfrm>
            <a:off x="6391656" y="187452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40" name="Text 38"/>
          <p:cNvSpPr txBox="1"/>
          <p:nvPr/>
        </p:nvSpPr>
        <p:spPr>
          <a:xfrm>
            <a:off x="6739128" y="1865376"/>
            <a:ext cx="4800600" cy="292608"/>
          </a:xfrm>
          <a:prstGeom prst="rect">
            <a:avLst/>
          </a:prstGeom>
          <a:noFill/>
          <a:ln/>
        </p:spPr>
        <p:txBody>
          <a:bodyPr wrap="square" lIns="0" tIns="0" rIns="0" bIns="0" rtlCol="0" anchor="ctr"/>
          <a:lstStyle/>
          <a:p>
            <a:pPr indent="0" marL="0">
              <a:buNone/>
            </a:pPr>
            <a:r>
              <a:rPr lang="en-US" sz="1300" b="1" dirty="0">
                <a:solidFill>
                  <a:srgbClr val="8A4A0E"/>
                </a:solidFill>
                <a:latin typeface="Calibri" pitchFamily="34" charset="0"/>
                <a:ea typeface="Calibri" pitchFamily="34" charset="-122"/>
                <a:cs typeface="Calibri" pitchFamily="34" charset="-120"/>
              </a:rPr>
              <a:t>Bulkhead</a:t>
            </a:r>
            <a:endParaRPr lang="en-US" sz="1300" dirty="0"/>
          </a:p>
        </p:txBody>
      </p:sp>
      <p:sp>
        <p:nvSpPr>
          <p:cNvPr id="41" name="Text 39"/>
          <p:cNvSpPr txBox="1"/>
          <p:nvPr/>
        </p:nvSpPr>
        <p:spPr>
          <a:xfrm>
            <a:off x="6409944" y="2185416"/>
            <a:ext cx="5111496" cy="521208"/>
          </a:xfrm>
          <a:prstGeom prst="rect">
            <a:avLst/>
          </a:prstGeom>
          <a:noFill/>
          <a:ln/>
        </p:spPr>
        <p:txBody>
          <a:bodyPr wrap="square" lIns="0" tIns="0" rIns="0" bIns="0" rtlCol="0" anchor="t"/>
          <a:lstStyle/>
          <a:p>
            <a:pPr indent="0" marL="0">
              <a:lnSpc>
                <a:spcPts val="1100"/>
              </a:lnSpc>
              <a:buNone/>
            </a:pPr>
            <a:r>
              <a:rPr lang="en-US" sz="900" b="1" dirty="0">
                <a:solidFill>
                  <a:srgbClr val="68737A"/>
                </a:solidFill>
                <a:latin typeface="Calibri" pitchFamily="34" charset="0"/>
                <a:ea typeface="Calibri" pitchFamily="34" charset="-122"/>
                <a:cs typeface="Calibri" pitchFamily="34" charset="-120"/>
              </a:rPr>
              <a:t>Where  </a:t>
            </a:r>
            <a:pPr indent="0" marL="0">
              <a:lnSpc>
                <a:spcPts val="1100"/>
              </a:lnSpc>
              <a:buNone/>
            </a:pPr>
            <a:r>
              <a:rPr lang="en-US" sz="900" dirty="0">
                <a:solidFill>
                  <a:srgbClr val="1A2328"/>
                </a:solidFill>
                <a:latin typeface="Calibri" pitchFamily="34" charset="0"/>
                <a:ea typeface="Calibri" pitchFamily="34" charset="-122"/>
                <a:cs typeface="Calibri" pitchFamily="34" charset="-120"/>
              </a:rPr>
              <a:t>a semaphore per tool, per orchestrator instance, sized to that system's allotted share</a:t>
            </a:r>
            <a:endParaRPr lang="en-US" sz="900" dirty="0"/>
          </a:p>
          <a:p>
            <a:pPr indent="0" marL="0">
              <a:lnSpc>
                <a:spcPts val="1100"/>
              </a:lnSpc>
              <a:buNone/>
            </a:pPr>
            <a:r>
              <a:rPr lang="en-US" sz="900" b="1" dirty="0">
                <a:solidFill>
                  <a:srgbClr val="68737A"/>
                </a:solidFill>
                <a:latin typeface="Calibri" pitchFamily="34" charset="0"/>
                <a:ea typeface="Calibri" pitchFamily="34" charset="-122"/>
                <a:cs typeface="Calibri" pitchFamily="34" charset="-120"/>
              </a:rPr>
              <a:t>Effect  </a:t>
            </a:r>
            <a:pPr indent="0" marL="0">
              <a:lnSpc>
                <a:spcPts val="1100"/>
              </a:lnSpc>
              <a:buNone/>
            </a:pPr>
            <a:r>
              <a:rPr lang="en-US" sz="900" dirty="0">
                <a:solidFill>
                  <a:srgbClr val="1A2328"/>
                </a:solidFill>
                <a:latin typeface="Calibri" pitchFamily="34" charset="0"/>
                <a:ea typeface="Calibri" pitchFamily="34" charset="-122"/>
                <a:cs typeface="Calibri" pitchFamily="34" charset="-120"/>
              </a:rPr>
              <a:t>one slow policy-administration call cannot occupy every worker; callers wait briefly, then the model receives a structured "unavailable, retry in 10 s" and answers around the missing fact</a:t>
            </a:r>
            <a:endParaRPr lang="en-US" sz="900" dirty="0"/>
          </a:p>
        </p:txBody>
      </p:sp>
      <p:sp>
        <p:nvSpPr>
          <p:cNvPr id="42" name="Text 40"/>
          <p:cNvSpPr txBox="1"/>
          <p:nvPr/>
        </p:nvSpPr>
        <p:spPr>
          <a:xfrm>
            <a:off x="6245352" y="2871216"/>
            <a:ext cx="5440680" cy="146304"/>
          </a:xfrm>
          <a:prstGeom prst="rect">
            <a:avLst/>
          </a:prstGeom>
          <a:noFill/>
          <a:ln/>
        </p:spPr>
        <p:txBody>
          <a:bodyPr wrap="square" lIns="0" tIns="0" rIns="0" bIns="0" rtlCol="0" anchor="ctr"/>
          <a:lstStyle/>
          <a:p>
            <a:pPr indent="0" marL="0">
              <a:buNone/>
            </a:pPr>
            <a:r>
              <a:rPr lang="en-US" sz="800" b="1" spc="110" kern="0" dirty="0">
                <a:solidFill>
                  <a:srgbClr val="68737A"/>
                </a:solidFill>
                <a:latin typeface="Calibri" pitchFamily="34" charset="0"/>
                <a:ea typeface="Calibri" pitchFamily="34" charset="-122"/>
                <a:cs typeface="Calibri" pitchFamily="34" charset="-120"/>
              </a:rPr>
              <a:t>THE ENABLER — without it the other two do not work</a:t>
            </a:r>
            <a:endParaRPr lang="en-US" sz="800" dirty="0"/>
          </a:p>
        </p:txBody>
      </p:sp>
      <p:sp>
        <p:nvSpPr>
          <p:cNvPr id="43" name="Shape 41"/>
          <p:cNvSpPr/>
          <p:nvPr/>
        </p:nvSpPr>
        <p:spPr>
          <a:xfrm>
            <a:off x="6245352" y="3054096"/>
            <a:ext cx="5440680" cy="731520"/>
          </a:xfrm>
          <a:prstGeom prst="roundRect">
            <a:avLst>
              <a:gd name="adj" fmla="val 6250"/>
            </a:avLst>
          </a:prstGeom>
          <a:solidFill>
            <a:srgbClr val="F4F7F6"/>
          </a:solidFill>
          <a:ln w="12700">
            <a:solidFill>
              <a:srgbClr val="D2DAD7"/>
            </a:solidFill>
            <a:prstDash val="solid"/>
          </a:ln>
          <a:effectLst>
            <a:outerShdw sx="100000" sy="100000" kx="0" ky="0" algn="bl" rotWithShape="0" blurRad="76200" dist="19050" dir="5400000">
              <a:srgbClr val="8A9994">
                <a:alpha val="20000"/>
              </a:srgbClr>
            </a:outerShdw>
          </a:effectLst>
        </p:spPr>
      </p:sp>
      <p:sp>
        <p:nvSpPr>
          <p:cNvPr id="44" name="Shape 42"/>
          <p:cNvSpPr/>
          <p:nvPr/>
        </p:nvSpPr>
        <p:spPr>
          <a:xfrm>
            <a:off x="6391656" y="3154680"/>
            <a:ext cx="274320" cy="274320"/>
          </a:xfrm>
          <a:prstGeom prst="ellipse">
            <a:avLst/>
          </a:prstGeom>
          <a:solidFill>
            <a:srgbClr val="8A4A0E"/>
          </a:solidFill>
          <a:ln w="12700">
            <a:solidFill>
              <a:srgbClr val="8A4A0E"/>
            </a:solidFill>
            <a:prstDash val="solid"/>
          </a:ln>
        </p:spPr>
      </p:sp>
      <p:sp>
        <p:nvSpPr>
          <p:cNvPr id="45" name="Text 43"/>
          <p:cNvSpPr txBox="1"/>
          <p:nvPr/>
        </p:nvSpPr>
        <p:spPr>
          <a:xfrm>
            <a:off x="6391656" y="315468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46" name="Text 44"/>
          <p:cNvSpPr txBox="1"/>
          <p:nvPr/>
        </p:nvSpPr>
        <p:spPr>
          <a:xfrm>
            <a:off x="6739128" y="3145536"/>
            <a:ext cx="4800600" cy="292608"/>
          </a:xfrm>
          <a:prstGeom prst="rect">
            <a:avLst/>
          </a:prstGeom>
          <a:noFill/>
          <a:ln/>
        </p:spPr>
        <p:txBody>
          <a:bodyPr wrap="square" lIns="0" tIns="0" rIns="0" bIns="0" rtlCol="0" anchor="ctr"/>
          <a:lstStyle/>
          <a:p>
            <a:pPr indent="0" marL="0">
              <a:buNone/>
            </a:pPr>
            <a:r>
              <a:rPr lang="en-US" sz="1300" b="1" dirty="0">
                <a:solidFill>
                  <a:srgbClr val="8A4A0E"/>
                </a:solidFill>
                <a:latin typeface="Calibri" pitchFamily="34" charset="0"/>
                <a:ea typeface="Calibri" pitchFamily="34" charset="-122"/>
                <a:cs typeface="Calibri" pitchFamily="34" charset="-120"/>
              </a:rPr>
              <a:t>Timeout</a:t>
            </a:r>
            <a:endParaRPr lang="en-US" sz="1300" dirty="0"/>
          </a:p>
        </p:txBody>
      </p:sp>
      <p:sp>
        <p:nvSpPr>
          <p:cNvPr id="47" name="Text 45"/>
          <p:cNvSpPr txBox="1"/>
          <p:nvPr/>
        </p:nvSpPr>
        <p:spPr>
          <a:xfrm>
            <a:off x="6409944" y="3465576"/>
            <a:ext cx="5111496" cy="228600"/>
          </a:xfrm>
          <a:prstGeom prst="rect">
            <a:avLst/>
          </a:prstGeom>
          <a:noFill/>
          <a:ln/>
        </p:spPr>
        <p:txBody>
          <a:bodyPr wrap="square" lIns="0" tIns="0" rIns="0" bIns="0" rtlCol="0" anchor="t"/>
          <a:lstStyle/>
          <a:p>
            <a:pPr indent="0" marL="0">
              <a:lnSpc>
                <a:spcPts val="1100"/>
              </a:lnSpc>
              <a:buNone/>
            </a:pPr>
            <a:r>
              <a:rPr lang="en-US" sz="900" b="1" dirty="0">
                <a:solidFill>
                  <a:srgbClr val="68737A"/>
                </a:solidFill>
                <a:latin typeface="Calibri" pitchFamily="34" charset="0"/>
                <a:ea typeface="Calibri" pitchFamily="34" charset="-122"/>
                <a:cs typeface="Calibri" pitchFamily="34" charset="-120"/>
              </a:rPr>
              <a:t>Why  </a:t>
            </a:r>
            <a:pPr indent="0" marL="0">
              <a:lnSpc>
                <a:spcPts val="1100"/>
              </a:lnSpc>
              <a:buNone/>
            </a:pPr>
            <a:r>
              <a:rPr lang="en-US" sz="900" dirty="0">
                <a:solidFill>
                  <a:srgbClr val="1A2328"/>
                </a:solidFill>
                <a:latin typeface="Calibri" pitchFamily="34" charset="0"/>
                <a:ea typeface="Calibri" pitchFamily="34" charset="-122"/>
                <a:cs typeface="Calibri" pitchFamily="34" charset="-120"/>
              </a:rPr>
              <a:t>slow calls, not failed ones, are what fill a bulkhead's semaphore. Untimed, they never register as failures, so the breaker never trips and the bulkhead never drains.</a:t>
            </a:r>
            <a:endParaRPr lang="en-US" sz="900" dirty="0"/>
          </a:p>
        </p:txBody>
      </p:sp>
      <p:sp>
        <p:nvSpPr>
          <p:cNvPr id="48" name="Text 46"/>
          <p:cNvSpPr txBox="1"/>
          <p:nvPr/>
        </p:nvSpPr>
        <p:spPr>
          <a:xfrm>
            <a:off x="6245352" y="3858768"/>
            <a:ext cx="5440680" cy="146304"/>
          </a:xfrm>
          <a:prstGeom prst="rect">
            <a:avLst/>
          </a:prstGeom>
          <a:noFill/>
          <a:ln/>
        </p:spPr>
        <p:txBody>
          <a:bodyPr wrap="square" lIns="0" tIns="0" rIns="0" bIns="0" rtlCol="0" anchor="ctr"/>
          <a:lstStyle/>
          <a:p>
            <a:pPr indent="0" marL="0">
              <a:buNone/>
            </a:pPr>
            <a:r>
              <a:rPr lang="en-US" sz="800" b="1" spc="110" kern="0" dirty="0">
                <a:solidFill>
                  <a:srgbClr val="68737A"/>
                </a:solidFill>
                <a:latin typeface="Calibri" pitchFamily="34" charset="0"/>
                <a:ea typeface="Calibri" pitchFamily="34" charset="-122"/>
                <a:cs typeface="Calibri" pitchFamily="34" charset="-120"/>
              </a:rPr>
              <a:t>REACTIVE — observes outcomes, acts after the fact</a:t>
            </a:r>
            <a:endParaRPr lang="en-US" sz="800" dirty="0"/>
          </a:p>
        </p:txBody>
      </p:sp>
      <p:sp>
        <p:nvSpPr>
          <p:cNvPr id="49" name="Shape 47"/>
          <p:cNvSpPr/>
          <p:nvPr/>
        </p:nvSpPr>
        <p:spPr>
          <a:xfrm>
            <a:off x="6245352" y="4041648"/>
            <a:ext cx="5440680" cy="1115568"/>
          </a:xfrm>
          <a:prstGeom prst="roundRect">
            <a:avLst>
              <a:gd name="adj" fmla="val 4098"/>
            </a:avLst>
          </a:prstGeom>
          <a:solidFill>
            <a:srgbClr val="F4F7F6"/>
          </a:solidFill>
          <a:ln w="12700">
            <a:solidFill>
              <a:srgbClr val="D2DAD7"/>
            </a:solidFill>
            <a:prstDash val="solid"/>
          </a:ln>
          <a:effectLst>
            <a:outerShdw sx="100000" sy="100000" kx="0" ky="0" algn="bl" rotWithShape="0" blurRad="76200" dist="19050" dir="5400000">
              <a:srgbClr val="8A9994">
                <a:alpha val="20000"/>
              </a:srgbClr>
            </a:outerShdw>
          </a:effectLst>
        </p:spPr>
      </p:sp>
      <p:sp>
        <p:nvSpPr>
          <p:cNvPr id="50" name="Shape 48"/>
          <p:cNvSpPr/>
          <p:nvPr/>
        </p:nvSpPr>
        <p:spPr>
          <a:xfrm>
            <a:off x="6391656" y="4142232"/>
            <a:ext cx="274320" cy="274320"/>
          </a:xfrm>
          <a:prstGeom prst="ellipse">
            <a:avLst/>
          </a:prstGeom>
          <a:solidFill>
            <a:srgbClr val="8A4A0E"/>
          </a:solidFill>
          <a:ln w="12700">
            <a:solidFill>
              <a:srgbClr val="8A4A0E"/>
            </a:solidFill>
            <a:prstDash val="solid"/>
          </a:ln>
        </p:spPr>
      </p:sp>
      <p:sp>
        <p:nvSpPr>
          <p:cNvPr id="51" name="Text 49"/>
          <p:cNvSpPr txBox="1"/>
          <p:nvPr/>
        </p:nvSpPr>
        <p:spPr>
          <a:xfrm>
            <a:off x="6391656" y="41422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2" name="Text 50"/>
          <p:cNvSpPr txBox="1"/>
          <p:nvPr/>
        </p:nvSpPr>
        <p:spPr>
          <a:xfrm>
            <a:off x="6739128" y="4133088"/>
            <a:ext cx="4800600" cy="292608"/>
          </a:xfrm>
          <a:prstGeom prst="rect">
            <a:avLst/>
          </a:prstGeom>
          <a:noFill/>
          <a:ln/>
        </p:spPr>
        <p:txBody>
          <a:bodyPr wrap="square" lIns="0" tIns="0" rIns="0" bIns="0" rtlCol="0" anchor="ctr"/>
          <a:lstStyle/>
          <a:p>
            <a:pPr indent="0" marL="0">
              <a:buNone/>
            </a:pPr>
            <a:r>
              <a:rPr lang="en-US" sz="1300" b="1" dirty="0">
                <a:solidFill>
                  <a:srgbClr val="8A4A0E"/>
                </a:solidFill>
                <a:latin typeface="Calibri" pitchFamily="34" charset="0"/>
                <a:ea typeface="Calibri" pitchFamily="34" charset="-122"/>
                <a:cs typeface="Calibri" pitchFamily="34" charset="-120"/>
              </a:rPr>
              <a:t>Circuit breaker</a:t>
            </a:r>
            <a:endParaRPr lang="en-US" sz="1300" dirty="0"/>
          </a:p>
        </p:txBody>
      </p:sp>
      <p:sp>
        <p:nvSpPr>
          <p:cNvPr id="53" name="Text 51"/>
          <p:cNvSpPr txBox="1"/>
          <p:nvPr/>
        </p:nvSpPr>
        <p:spPr>
          <a:xfrm>
            <a:off x="6409944" y="4453128"/>
            <a:ext cx="5111496" cy="612648"/>
          </a:xfrm>
          <a:prstGeom prst="rect">
            <a:avLst/>
          </a:prstGeom>
          <a:noFill/>
          <a:ln/>
        </p:spPr>
        <p:txBody>
          <a:bodyPr wrap="square" lIns="0" tIns="0" rIns="0" bIns="0" rtlCol="0" anchor="t"/>
          <a:lstStyle/>
          <a:p>
            <a:pPr indent="0" marL="0">
              <a:lnSpc>
                <a:spcPts val="1100"/>
              </a:lnSpc>
              <a:buNone/>
            </a:pPr>
            <a:r>
              <a:rPr lang="en-US" sz="900" b="1" dirty="0">
                <a:solidFill>
                  <a:srgbClr val="68737A"/>
                </a:solidFill>
                <a:latin typeface="Calibri" pitchFamily="34" charset="0"/>
                <a:ea typeface="Calibri" pitchFamily="34" charset="-122"/>
                <a:cs typeface="Calibri" pitchFamily="34" charset="-120"/>
              </a:rPr>
              <a:t>Where  </a:t>
            </a:r>
            <a:pPr indent="0" marL="0">
              <a:lnSpc>
                <a:spcPts val="1100"/>
              </a:lnSpc>
              <a:buNone/>
            </a:pPr>
            <a:r>
              <a:rPr lang="en-US" sz="900" dirty="0">
                <a:solidFill>
                  <a:srgbClr val="1A2328"/>
                </a:solidFill>
                <a:latin typeface="Calibri" pitchFamily="34" charset="0"/>
                <a:ea typeface="Calibri" pitchFamily="34" charset="-122"/>
                <a:cs typeface="Calibri" pitchFamily="34" charset="-120"/>
              </a:rPr>
              <a:t>one breaker per tool, and one per model family</a:t>
            </a:r>
            <a:endParaRPr lang="en-US" sz="900" dirty="0"/>
          </a:p>
          <a:p>
            <a:pPr indent="0" marL="0">
              <a:lnSpc>
                <a:spcPts val="1100"/>
              </a:lnSpc>
              <a:buNone/>
            </a:pPr>
            <a:r>
              <a:rPr lang="en-US" sz="900" b="1" dirty="0">
                <a:solidFill>
                  <a:srgbClr val="68737A"/>
                </a:solidFill>
                <a:latin typeface="Calibri" pitchFamily="34" charset="0"/>
                <a:ea typeface="Calibri" pitchFamily="34" charset="-122"/>
                <a:cs typeface="Calibri" pitchFamily="34" charset="-120"/>
              </a:rPr>
              <a:t>Trips when  </a:t>
            </a:r>
            <a:pPr indent="0" marL="0">
              <a:lnSpc>
                <a:spcPts val="1100"/>
              </a:lnSpc>
              <a:buNone/>
            </a:pPr>
            <a:r>
              <a:rPr lang="en-US" sz="900" dirty="0">
                <a:solidFill>
                  <a:srgbClr val="1A2328"/>
                </a:solidFill>
                <a:latin typeface="Calibri" pitchFamily="34" charset="0"/>
                <a:ea typeface="Calibri" pitchFamily="34" charset="-122"/>
                <a:cs typeface="Calibri" pitchFamily="34" charset="-120"/>
              </a:rPr>
              <a:t>repeated failures or timeouts from that one dependency inside a rolling window</a:t>
            </a:r>
            <a:endParaRPr lang="en-US" sz="900" dirty="0"/>
          </a:p>
          <a:p>
            <a:pPr indent="0" marL="0">
              <a:lnSpc>
                <a:spcPts val="1100"/>
              </a:lnSpc>
              <a:buNone/>
            </a:pPr>
            <a:r>
              <a:rPr lang="en-US" sz="900" b="1" dirty="0">
                <a:solidFill>
                  <a:srgbClr val="68737A"/>
                </a:solidFill>
                <a:latin typeface="Calibri" pitchFamily="34" charset="0"/>
                <a:ea typeface="Calibri" pitchFamily="34" charset="-122"/>
                <a:cs typeface="Calibri" pitchFamily="34" charset="-120"/>
              </a:rPr>
              <a:t>Then  </a:t>
            </a:r>
            <a:pPr indent="0" marL="0">
              <a:lnSpc>
                <a:spcPts val="1100"/>
              </a:lnSpc>
              <a:buNone/>
            </a:pPr>
            <a:r>
              <a:rPr lang="en-US" sz="900" dirty="0">
                <a:solidFill>
                  <a:srgbClr val="1A2328"/>
                </a:solidFill>
                <a:latin typeface="Calibri" pitchFamily="34" charset="0"/>
                <a:ea typeface="Calibri" pitchFamily="34" charset="-122"/>
                <a:cs typeface="Calibri" pitchFamily="34" charset="-120"/>
              </a:rPr>
              <a:t>fail fast for a cooling period, then a half-open probe — freeing the contexts a slow dependency would otherwise pin until their deadlines fire</a:t>
            </a:r>
            <a:endParaRPr lang="en-US" sz="900" dirty="0"/>
          </a:p>
        </p:txBody>
      </p:sp>
      <p:sp>
        <p:nvSpPr>
          <p:cNvPr id="54" name="Shape 52"/>
          <p:cNvSpPr/>
          <p:nvPr/>
        </p:nvSpPr>
        <p:spPr>
          <a:xfrm>
            <a:off x="6245352" y="5266944"/>
            <a:ext cx="5440680" cy="310896"/>
          </a:xfrm>
          <a:prstGeom prst="roundRect">
            <a:avLst>
              <a:gd name="adj" fmla="val 14706"/>
            </a:avLst>
          </a:prstGeom>
          <a:solidFill>
            <a:srgbClr val="FBEEDC"/>
          </a:solidFill>
          <a:ln w="12700">
            <a:solidFill>
              <a:srgbClr val="A85A12"/>
            </a:solidFill>
            <a:prstDash val="solid"/>
          </a:ln>
        </p:spPr>
      </p:sp>
      <p:sp>
        <p:nvSpPr>
          <p:cNvPr id="55" name="Text 53"/>
          <p:cNvSpPr txBox="1"/>
          <p:nvPr/>
        </p:nvSpPr>
        <p:spPr>
          <a:xfrm>
            <a:off x="6391656" y="5266944"/>
            <a:ext cx="5148072" cy="310896"/>
          </a:xfrm>
          <a:prstGeom prst="rect">
            <a:avLst/>
          </a:prstGeom>
          <a:noFill/>
          <a:ln/>
        </p:spPr>
        <p:txBody>
          <a:bodyPr wrap="square" lIns="0" tIns="0" rIns="0" bIns="0" rtlCol="0" anchor="ctr"/>
          <a:lstStyle/>
          <a:p>
            <a:pPr indent="0" marL="0">
              <a:buNone/>
            </a:pPr>
            <a:r>
              <a:rPr lang="en-US" sz="950" b="1" dirty="0">
                <a:solidFill>
                  <a:srgbClr val="8A4A0E"/>
                </a:solidFill>
                <a:latin typeface="Calibri" pitchFamily="34" charset="0"/>
                <a:ea typeface="Calibri" pitchFamily="34" charset="-122"/>
                <a:cs typeface="Calibri" pitchFamily="34" charset="-120"/>
              </a:rPr>
              <a:t>In the call path:  </a:t>
            </a:r>
            <a:pPr indent="0" marL="0">
              <a:buNone/>
            </a:pPr>
            <a:r>
              <a:rPr lang="en-US" sz="950" dirty="0">
                <a:solidFill>
                  <a:srgbClr val="1A2328"/>
                </a:solidFill>
                <a:latin typeface="Calibri" pitchFamily="34" charset="0"/>
                <a:ea typeface="Calibri" pitchFamily="34" charset="-122"/>
                <a:cs typeface="Calibri" pitchFamily="34" charset="-120"/>
              </a:rPr>
              <a:t>bulkhead admits  →  breaker check  →  timeout  →  the call  →  record the outcome</a:t>
            </a:r>
            <a:endParaRPr lang="en-US" sz="950" dirty="0"/>
          </a:p>
        </p:txBody>
      </p:sp>
      <p:sp>
        <p:nvSpPr>
          <p:cNvPr id="56" name="Text 54"/>
          <p:cNvSpPr txBox="1"/>
          <p:nvPr/>
        </p:nvSpPr>
        <p:spPr>
          <a:xfrm>
            <a:off x="6245352" y="5669280"/>
            <a:ext cx="5440680" cy="219456"/>
          </a:xfrm>
          <a:prstGeom prst="rect">
            <a:avLst/>
          </a:prstGeom>
          <a:noFill/>
          <a:ln/>
        </p:spPr>
        <p:txBody>
          <a:bodyPr wrap="square" lIns="0" tIns="0" rIns="0" bIns="0" rtlCol="0" anchor="ctr"/>
          <a:lstStyle/>
          <a:p>
            <a:pPr indent="0" marL="0">
              <a:buNone/>
            </a:pPr>
            <a:r>
              <a:rPr lang="en-US" sz="900" i="1" dirty="0">
                <a:solidFill>
                  <a:srgbClr val="8A4A0E"/>
                </a:solidFill>
                <a:latin typeface="Calibri" pitchFamily="34" charset="0"/>
                <a:ea typeface="Calibri" pitchFamily="34" charset="-122"/>
                <a:cs typeface="Calibri" pitchFamily="34" charset="-120"/>
              </a:rPr>
              <a:t>The halves are not sealed: an open model breaker is one of the triggers that raises the degradation level to 2.</a:t>
            </a:r>
            <a:endParaRPr lang="en-US" sz="900" dirty="0"/>
          </a:p>
        </p:txBody>
      </p:sp>
      <p:sp>
        <p:nvSpPr>
          <p:cNvPr id="57" name="Text 55"/>
          <p:cNvSpPr txBox="1"/>
          <p:nvPr/>
        </p:nvSpPr>
        <p:spPr>
          <a:xfrm>
            <a:off x="502920" y="6089904"/>
            <a:ext cx="11183112" cy="219456"/>
          </a:xfrm>
          <a:prstGeom prst="rect">
            <a:avLst/>
          </a:prstGeom>
          <a:noFill/>
          <a:ln/>
        </p:spPr>
        <p:txBody>
          <a:bodyPr wrap="square" lIns="0" tIns="0" rIns="0" bIns="0" rtlCol="0" anchor="ctr"/>
          <a:lstStyle/>
          <a:p>
            <a:pPr indent="0" marL="0">
              <a:buNone/>
            </a:pPr>
            <a:r>
              <a:rPr lang="en-US" sz="1050" i="1" dirty="0">
                <a:solidFill>
                  <a:srgbClr val="0B5B57"/>
                </a:solidFill>
                <a:latin typeface="Calibri" pitchFamily="34" charset="0"/>
                <a:ea typeface="Calibri" pitchFamily="34" charset="-122"/>
                <a:cs typeface="Calibri" pitchFamily="34" charset="-120"/>
              </a:rPr>
              <a:t>Shedding a turn fast is kinder than queueing it slowly. Failing a tool call fast is kinder than letting it pin a turn until the deadline fires.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Agent scaling patterns</dc:creator>
  <cp:lastModifiedBy>Agent scaling patterns</cp:lastModifiedBy>
  <cp:revision>1</cp:revision>
  <dcterms:created xsi:type="dcterms:W3CDTF">2026-09-18T07:16:32Z</dcterms:created>
  <dcterms:modified xsi:type="dcterms:W3CDTF">2026-09-18T07:16:32Z</dcterms:modified>
</cp:coreProperties>
</file>